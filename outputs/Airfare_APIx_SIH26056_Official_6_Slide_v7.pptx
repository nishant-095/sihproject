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a95188aa904eab" /><Relationship Type="http://schemas.openxmlformats.org/officeDocument/2006/relationships/extended-properties" Target="/docProps/app.xml" Id="R4b169f23d4af4929" /><Relationship Type="http://schemas.openxmlformats.org/officeDocument/2006/relationships/officeDocument" Target="/ppt/presentation.xml" Id="Recbb6bf6daeb4b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1b829a9cb64a97"/>
  </p:sldMasterIdLst>
  <p:notesMasterIdLst>
    <p:notesMasterId xmlns:r="http://schemas.openxmlformats.org/officeDocument/2006/relationships" r:id="R9150b335e688418b"/>
  </p:notesMasterIdLst>
  <p:sldIdLst>
    <p:sldId xmlns:r="http://schemas.openxmlformats.org/officeDocument/2006/relationships" id="256" r:id="R01e1c34ef2ee47e6"/>
    <p:sldId xmlns:r="http://schemas.openxmlformats.org/officeDocument/2006/relationships" id="257" r:id="R185a072ed69e4887"/>
    <p:sldId xmlns:r="http://schemas.openxmlformats.org/officeDocument/2006/relationships" id="258" r:id="R9ab6e7e46d3947ba"/>
    <p:sldId xmlns:r="http://schemas.openxmlformats.org/officeDocument/2006/relationships" id="259" r:id="R279e1a220f9048b4"/>
    <p:sldId xmlns:r="http://schemas.openxmlformats.org/officeDocument/2006/relationships" id="260" r:id="R08f9e4bebdcb42a4"/>
    <p:sldId xmlns:r="http://schemas.openxmlformats.org/officeDocument/2006/relationships" id="261" r:id="Ra6d07eab6f5e48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74e6cdd3aa4696" /><Relationship Type="http://schemas.openxmlformats.org/officeDocument/2006/relationships/slideMaster" Target="/ppt/slideMasters/slideMaster1.xml" Id="R541b829a9cb64a97" /><Relationship Type="http://schemas.openxmlformats.org/officeDocument/2006/relationships/notesMaster" Target="/ppt/notesMasters/notesMaster1.xml" Id="R9150b335e688418b" /><Relationship Type="http://schemas.openxmlformats.org/officeDocument/2006/relationships/presProps" Target="/ppt/presProps.xml" Id="R8ab381dc119e41ad" /><Relationship Type="http://schemas.openxmlformats.org/officeDocument/2006/relationships/viewProps" Target="/ppt/viewProps.xml" Id="Rba77d41d247348c6" /><Relationship Type="http://schemas.openxmlformats.org/officeDocument/2006/relationships/tableStyles" Target="/ppt/tableStyles.xml" Id="R77de362564444614" /><Relationship Type="http://schemas.openxmlformats.org/officeDocument/2006/relationships/slide" Target="/ppt/slides/slide1.xml" Id="R01e1c34ef2ee47e6" /><Relationship Type="http://schemas.openxmlformats.org/officeDocument/2006/relationships/slide" Target="/ppt/slides/slide2.xml" Id="R185a072ed69e4887" /><Relationship Type="http://schemas.openxmlformats.org/officeDocument/2006/relationships/slide" Target="/ppt/slides/slide3.xml" Id="R9ab6e7e46d3947ba" /><Relationship Type="http://schemas.openxmlformats.org/officeDocument/2006/relationships/slide" Target="/ppt/slides/slide4.xml" Id="R279e1a220f9048b4" /><Relationship Type="http://schemas.openxmlformats.org/officeDocument/2006/relationships/slide" Target="/ppt/slides/slide5.xml" Id="R08f9e4bebdcb42a4" /><Relationship Type="http://schemas.openxmlformats.org/officeDocument/2006/relationships/slide" Target="/ppt/slides/slide6.xml" Id="Ra6d07eab6f5e48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d257fe26ae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0e601fbe2f4d6b" /><Relationship Type="http://schemas.openxmlformats.org/officeDocument/2006/relationships/notesMaster" Target="/ppt/notesMasters/notesMaster1.xml" Id="R86990f10b91045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d9b2d482154080" /><Relationship Type="http://schemas.openxmlformats.org/officeDocument/2006/relationships/notesMaster" Target="/ppt/notesMasters/notesMaster1.xml" Id="R74688472d14b4c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79d5a5f6314692" /><Relationship Type="http://schemas.openxmlformats.org/officeDocument/2006/relationships/notesMaster" Target="/ppt/notesMasters/notesMaster1.xml" Id="R04b089f068a049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3a65e4af604063" /><Relationship Type="http://schemas.openxmlformats.org/officeDocument/2006/relationships/notesMaster" Target="/ppt/notesMasters/notesMaster1.xml" Id="Ra43abf8bb04748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15b879010e430a" /><Relationship Type="http://schemas.openxmlformats.org/officeDocument/2006/relationships/notesMaster" Target="/ppt/notesMasters/notesMaster1.xml" Id="R0c7979f3996945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67d9820dd34c49" /><Relationship Type="http://schemas.openxmlformats.org/officeDocument/2006/relationships/notesMaster" Target="/ppt/notesMasters/notesMaster1.xml" Id="Re2ff92ec351a45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Airfare APIx measures a fixed basket of Indian domestic airfares and preserves the evidence behind every index value. Fill the registered team ID and team name before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https://raw.githubusercontent.com/vedantchalke36/sih-2026-problem-statements/main/ps_2026/SIH26056.md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The five booking windows show how the fare changes as departure approaches. The MVP uses three routes to prove the full method and can expand using DGCA traffic evidence.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docs/methodology.md; SIH26056 problem statement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Each source uses the same adapter contract. Raw data is stored before cleaning. Only accepted comparable observations enter the index. The browser only presents stored results.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docs/architecture.md; docs/methodology.md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Engineering feasibility and live-data permission are separate. The entire prototype works locally. Production collection remains gated by lawful source access.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docs/final-acceptance.md; docs/source-policy.md; https://developer.goindigo.in/ndcAPI; https://ndc.airindia.com/en/ndc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The public value is auditability. A reviewer can see the index movement, its coverage and the exact evidence used. The same design can support a larger DGCA-weighted route basket.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SIH26056 problem statement; https://esankhyiki.mospi.gov.in/; https://www.dgca.gov.in/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Close the slides here and open the working prototype. Demonstrate Overview, Route Explorer, Provenance and Operations. Keep the synthetic-data label visible.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/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https://www.sih.gov.in/; https://esankhyiki.mospi.gov.in/; https://www.dgca.gov.in/; https://developer.goindigo.in/ndcAPI; https://ndc.airindia.com/en/ndc; https://duffel.com/docs/api/overview/test-mode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1ffa96bbf49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e17c3f39746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4c7d9de6a4d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6035d2631442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54ed563ae45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7e1638a3c44e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86bb500ba4f2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81839fb5543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caef2c7d042d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9694ae118457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6f59d54ef42e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6C6278-9C97-4776-8B1A-2784EBD82A7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1849713-DDB2-4D19-8993-7153A37069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CBCE65-C333-4A07-AE9A-A29C0936D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FF7511-974E-4977-803D-889258D5B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4176DE-9158-45EE-A387-E344AED38F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6B6EE-D9CB-484C-9E36-9BA1CA82A3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6215A0-5489-4D3E-9973-3B55F0B590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CF872C-2634-488B-8B78-D170E30CE9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E32A59-ECA8-4807-886A-42BC85DF36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34F711-70BF-4C9C-82A0-67804EA57C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B679ED-2E82-445F-A19F-3931AB70E2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A6064A1-3DA4-49D6-BC6A-A12E10B689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C67826-D754-4E03-AEBC-8F386A3B6A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95C9B34-09CD-493F-BBE7-8BE8255C81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151848B-D3FD-4087-BFDE-D3E1D87D6D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490D9D-DDB9-4FC7-90FB-671A1938D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3241B7-7F8F-4702-A92B-2133952A32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7DC8F76-9038-41C1-A3F5-8F64E67A14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F8E3BC-7B48-412D-9ABC-B01C5C13AC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4E749A-7141-46C4-BE4E-619506B6C1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8B2928-8EA6-4B87-B296-8759FF563E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369FAF-B15D-4383-BC57-F4F10F790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F524F9-46B6-4EB8-BB5E-A3FCD66DC4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9A0CCFD-987C-4F27-89E0-64E80A11795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236CA47-396E-4CD2-828F-A99E8285F7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5B3B3C9-F11A-4E2C-9DDD-E9EAA182A3E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7B359C5-3638-4B4F-B8FE-3264F457FC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2D0DE0-623C-4B67-A4A0-EA218A6740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336B46-50BC-486B-A5A9-53C24F2677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03B4DC-54F7-4820-AFAA-F3D2459B97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0F2104-92DC-4030-9C00-13D2F60AC6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437569E-B184-4BA1-8E86-0DD59F76E8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F4BC69-381F-4678-8667-A63E96061C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822C33-5173-4C20-9A3B-A5AA8FB472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1C4C5A-35D8-4F4C-AB5E-786CCFCFE6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7A9783-148C-4B8A-A5E8-E021C1977D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121588B-664C-46FA-9AC9-2020DE3C68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55C4A6A-3DCD-46DF-8113-1B770B18BE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E4D4DE8-BDA0-46DB-9191-4C3CDD18DA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ECD9DD-3855-4293-9057-68D2F593CA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9B9E58-A0E5-4AB0-B376-BD2E31CD6C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E5A98C-00DC-48A6-919B-E29E86C801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49FFC9-5031-43F6-B1ED-357341CBF7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8A5DBBF-27D6-4BAB-9698-C634170C92F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8937774-7E63-4A7C-8601-52E0CE4961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F3A6B6-5154-4EC3-9C0C-885F7F3544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EB3C1D-40C1-4130-B3C3-34FA6D7D9A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15CC6D-B732-4D0F-BA29-75ADF221DF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98A840-326D-4B49-B9E8-90B48C82EC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013B92D-BF42-4EA4-85D7-8CF5CCA178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8E13FB-17C1-40AA-BE42-645F0049E3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3BAC990-531F-4F8E-A9C7-04A2A456BC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50A0B0-A832-4AA5-9FE4-57059685CA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9FFFE7E-C724-4C7E-A5D3-04E395122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61CFD39-CE60-4871-9D48-4786BE4E72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992D80-B76E-4313-A982-A36EA1F3C9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387DE6-5EB9-4F6D-8951-DB1D382D25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6CE47F-9415-44C6-B905-4474A160C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711731d3d04dc0" /><Relationship Type="http://schemas.openxmlformats.org/officeDocument/2006/relationships/slideLayout" Target="/ppt/slideLayouts/slideLayout1.xml" Id="R7b95399e34e44a9a" /><Relationship Type="http://schemas.openxmlformats.org/officeDocument/2006/relationships/slideLayout" Target="/ppt/slideLayouts/slideLayout2.xml" Id="R7190d80443854a3a" /><Relationship Type="http://schemas.openxmlformats.org/officeDocument/2006/relationships/slideLayout" Target="/ppt/slideLayouts/slideLayout3.xml" Id="R76b9bd7295c74a18" /><Relationship Type="http://schemas.openxmlformats.org/officeDocument/2006/relationships/slideLayout" Target="/ppt/slideLayouts/slideLayout4.xml" Id="Ra71c47d00b5547e1" /><Relationship Type="http://schemas.openxmlformats.org/officeDocument/2006/relationships/slideLayout" Target="/ppt/slideLayouts/slideLayout5.xml" Id="R6f0b83c096bb4523" /><Relationship Type="http://schemas.openxmlformats.org/officeDocument/2006/relationships/slideLayout" Target="/ppt/slideLayouts/slideLayout6.xml" Id="R8633b2f612754bd0" /><Relationship Type="http://schemas.openxmlformats.org/officeDocument/2006/relationships/slideLayout" Target="/ppt/slideLayouts/slideLayout7.xml" Id="Rd773b5b7ed744cc6" /><Relationship Type="http://schemas.openxmlformats.org/officeDocument/2006/relationships/slideLayout" Target="/ppt/slideLayouts/slideLayout8.xml" Id="Rbc3914d049a843a3" /><Relationship Type="http://schemas.openxmlformats.org/officeDocument/2006/relationships/slideLayout" Target="/ppt/slideLayouts/slideLayout9.xml" Id="R6b3ac2bc3f914853" /><Relationship Type="http://schemas.openxmlformats.org/officeDocument/2006/relationships/slideLayout" Target="/ppt/slideLayouts/slideLayout10.xml" Id="R0359f5db7ca0491e" /><Relationship Type="http://schemas.openxmlformats.org/officeDocument/2006/relationships/slideLayout" Target="/ppt/slideLayouts/slideLayout11.xml" Id="R19f94ef180da4ba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E0274AC-3459-45A0-81A9-A634729D3A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D8CD3BF-8CC4-460A-8B6F-99BB44D542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8F7F51-234A-4DFC-9411-A19028DAE3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4FF36D8-602D-4C1B-8F01-53F6C219CC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55FA77-8BE1-4342-BFF3-DCE7EBD75C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95399e34e44a9a"/>
    <p:sldLayoutId xmlns:r="http://schemas.openxmlformats.org/officeDocument/2006/relationships" id="2147483650" r:id="R7190d80443854a3a"/>
    <p:sldLayoutId xmlns:r="http://schemas.openxmlformats.org/officeDocument/2006/relationships" id="2147483651" r:id="R76b9bd7295c74a18"/>
    <p:sldLayoutId xmlns:r="http://schemas.openxmlformats.org/officeDocument/2006/relationships" id="2147483652" r:id="Ra71c47d00b5547e1"/>
    <p:sldLayoutId xmlns:r="http://schemas.openxmlformats.org/officeDocument/2006/relationships" id="2147483653" r:id="R6f0b83c096bb4523"/>
    <p:sldLayoutId xmlns:r="http://schemas.openxmlformats.org/officeDocument/2006/relationships" id="2147483654" r:id="R8633b2f612754bd0"/>
    <p:sldLayoutId xmlns:r="http://schemas.openxmlformats.org/officeDocument/2006/relationships" id="2147483655" r:id="Rd773b5b7ed744cc6"/>
    <p:sldLayoutId xmlns:r="http://schemas.openxmlformats.org/officeDocument/2006/relationships" id="2147483656" r:id="Rbc3914d049a843a3"/>
    <p:sldLayoutId xmlns:r="http://schemas.openxmlformats.org/officeDocument/2006/relationships" id="2147483657" r:id="R6b3ac2bc3f914853"/>
    <p:sldLayoutId xmlns:r="http://schemas.openxmlformats.org/officeDocument/2006/relationships" id="2147483658" r:id="R0359f5db7ca0491e"/>
    <p:sldLayoutId xmlns:r="http://schemas.openxmlformats.org/officeDocument/2006/relationships" id="2147483659" r:id="R19f94ef180da4bae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b248a187e4e45" /><Relationship Type="http://schemas.openxmlformats.org/officeDocument/2006/relationships/image" Target="/ppt/media/image.png" Id="Rbeb0c689729941bd" /><Relationship Type="http://schemas.openxmlformats.org/officeDocument/2006/relationships/image" Target="/ppt/media/image2.png" Id="R0f540acdf2194351" /><Relationship Type="http://schemas.openxmlformats.org/officeDocument/2006/relationships/notesSlide" Target="/ppt/notesSlides/notesSlide1.xml" Id="Re2a583743c9641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5de720570a4559" /><Relationship Type="http://schemas.openxmlformats.org/officeDocument/2006/relationships/image" Target="/ppt/media/image2.png" Id="R3012d8d6fd884291" /><Relationship Type="http://schemas.openxmlformats.org/officeDocument/2006/relationships/image" Target="/ppt/media/image.jpeg" Id="R5a32fba8a76242ab" /><Relationship Type="http://schemas.openxmlformats.org/officeDocument/2006/relationships/notesSlide" Target="/ppt/notesSlides/notesSlide2.xml" Id="Ra62ecbc142f34f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89820e66254056" /><Relationship Type="http://schemas.openxmlformats.org/officeDocument/2006/relationships/image" Target="/ppt/media/image2.png" Id="Rf47add21239b4eab" /><Relationship Type="http://schemas.openxmlformats.org/officeDocument/2006/relationships/notesSlide" Target="/ppt/notesSlides/notesSlide3.xml" Id="R9858233c28f3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000663a64e4e5b" /><Relationship Type="http://schemas.openxmlformats.org/officeDocument/2006/relationships/image" Target="/ppt/media/image2.png" Id="Rb0483e75096747d9" /><Relationship Type="http://schemas.openxmlformats.org/officeDocument/2006/relationships/notesSlide" Target="/ppt/notesSlides/notesSlide4.xml" Id="Re2a270d6325145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3a79c5e7a543e6" /><Relationship Type="http://schemas.openxmlformats.org/officeDocument/2006/relationships/image" Target="/ppt/media/image2.png" Id="R1f02c7a21b684542" /><Relationship Type="http://schemas.openxmlformats.org/officeDocument/2006/relationships/notesSlide" Target="/ppt/notesSlides/notesSlide5.xml" Id="R43d907dc70e845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3ba390d4b342d6" /><Relationship Type="http://schemas.openxmlformats.org/officeDocument/2006/relationships/image" Target="/ppt/media/image2.png" Id="Rb134aa90daef4066" /><Relationship Type="http://schemas.openxmlformats.org/officeDocument/2006/relationships/notesSlide" Target="/ppt/notesSlides/notesSlide6.xml" Id="Rb170b7a607be49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b0c689729941bd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ADD5BE86-33B1-4096-908B-583A48B0247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pic>
        <p:nvPicPr>
          <p:cNvPr id="5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40acdf21943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7816B3-590A-4F82-811D-F0207D94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AIRFARE APIx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4AC04B-291C-4115-956F-F1CC1F0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52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0951CC-ADC0-4571-8C18-BA373483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SIH26056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5B9B73-0689-4BEF-86FE-ADE78CBB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581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Development of a Real-time Airfare Price Index for India through Automated Web Scraping of Airline and Online Travel Aggregator Portals for Augmentation of the Consumer Price Index (CPI)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C100E5-4352-4ACA-99F0-701BD03E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solidFill>
              <a:srgbClr val="EAF3F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020B6E-7799-4450-86E2-43341433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Theme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F782BD-667A-41B9-AC6D-AA8527EC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52538"/>
                </a:solidFill>
                <a:latin typeface="Arial"/>
                <a:ea typeface="Arial"/>
                <a:cs typeface="Arial"/>
              </a:rPr>
              <a:t>Smart Automation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775A52-AEE2-45D2-8E77-81C8191C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EE87EA-BF93-4917-B23E-CDC1D7E9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00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52538"/>
                </a:solidFill>
                <a:latin typeface="Arial"/>
                <a:ea typeface="Arial"/>
                <a:cs typeface="Arial"/>
              </a:rPr>
              <a:t>Software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86E716-626E-45B6-8E2D-4576545D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Team ID: __________</a:t>
            </a:r>
          </a:p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Team Name (Registered on portal): __________</a:t>
            </a:r>
          </a:p>
        </p:txBody>
      </p:sp>
    </p:spTree>
    <p:extLst>
      <p:ext uri="{BB962C8B-B14F-4D97-AF65-F5344CB8AC3E}">
        <p14:creationId xmlns:p14="http://schemas.microsoft.com/office/powerpoint/2010/main" val="8143399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135B4B0-AF3C-481E-A7A3-82791D95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035F5742-4C0F-47BB-83BF-A85AC8449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AIRFARE APIx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9FB329-1434-4794-B36D-7A482AA27F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A83E37E-B780-492E-AA18-F508A501AF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TEAM NAME</a:t>
            </a:r>
            <a:endParaRPr/>
          </a:p>
        </p:txBody>
      </p:sp>
      <p:pic>
        <p:nvPicPr>
          <p:cNvPr id="1539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2d8d6fd8842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F0346087-1E0E-4390-B24C-FBC9FB0F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26F104E1-42DA-4862-87CE-6DF69E9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A controlled daily airfare basket with every number traceable to raw evidence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808864A9-5487-4BC3-BE96-BAF6860A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Same routes, same fare definition and the same advance-booking windows. This makes daily, weekly and monthly movement statistically comparable.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5074FFD4-4EBD-496F-9F36-F839D807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ROUTES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67DDBECA-8D2A-47D3-9558-1A9BCB7E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DEL–BOM     DEL–BLR     BOM–BLR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310D7984-15C4-4B32-8D99-C63C60E9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BOOKING WINDOWS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C5AE3E54-8449-4BE9-AF61-9C0F6291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T+1     T+7     T+15     T+30     T+45</a:t>
            </a:r>
          </a:p>
        </p:txBody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65819E3E-E055-42B6-A7EF-94D6C4F5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COMPARABLE FARE</a:t>
            </a:r>
          </a:p>
        </p:txBody>
      </p:sp>
      <p:sp>
        <p:nvSpPr>
          <p:cNvPr id="15372" name="">
            <a:extLst xmlns:a="http://schemas.openxmlformats.org/drawingml/2006/main">
              <a:ext uri="{FF2B5EF4-FFF2-40B4-BE49-F238E27FC236}">
                <a16:creationId xmlns:a16="http://schemas.microsoft.com/office/drawing/2014/main" id="{EB01C87D-383E-4943-856D-E7C7594B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62525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77B"/>
                </a:solidFill>
                <a:latin typeface="Arial"/>
                <a:ea typeface="Arial"/>
                <a:cs typeface="Arial"/>
              </a:rPr>
              <a:t>1 adult   One-way   Economy   Non-stop   INR</a:t>
            </a:r>
          </a:p>
        </p:txBody>
      </p:sp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DD980CA4-D70B-41E7-B7D1-86BD09FA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257300"/>
            <a:ext cx="388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5593"/>
            </a:solidFill>
          </a:ln>
        </p:spPr>
      </p:sp>
      <p:pic>
        <p:nvPicPr>
          <p:cNvPr id="154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2fba8a76242ab"/>
          <a:srcRect xmlns:a="http://schemas.openxmlformats.org/drawingml/2006/main" l="0" t="2076" r="0" b="20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1925" y="1362075"/>
            <a:ext cx="3676650" cy="1981200"/>
          </a:xfrm>
          <a:prstGeom xmlns:a="http://schemas.openxmlformats.org/drawingml/2006/main" prst="rect">
            <a:avLst/>
          </a:prstGeom>
        </p:spPr>
      </p:pic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49A1B553-2FA3-42C4-8732-E38CCFFA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WORKING PROTOTYPE / LIGHT UI</a:t>
            </a:r>
          </a:p>
        </p:txBody>
      </p:sp>
      <p:sp>
        <p:nvSpPr>
          <p:cNvPr id="15376" name="">
            <a:extLst xmlns:a="http://schemas.openxmlformats.org/drawingml/2006/main">
              <a:ext uri="{FF2B5EF4-FFF2-40B4-BE49-F238E27FC236}">
                <a16:creationId xmlns:a16="http://schemas.microsoft.com/office/drawing/2014/main" id="{9CFE2668-B289-4DBF-93B5-6044CC53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957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377" name="">
            <a:extLst xmlns:a="http://schemas.openxmlformats.org/drawingml/2006/main">
              <a:ext uri="{FF2B5EF4-FFF2-40B4-BE49-F238E27FC236}">
                <a16:creationId xmlns:a16="http://schemas.microsoft.com/office/drawing/2014/main" id="{5AE2C07E-A1CC-46E4-9989-BD77EDE0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71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Evidence first</a:t>
            </a:r>
          </a:p>
        </p:txBody>
      </p:sp>
      <p:sp>
        <p:nvSpPr>
          <p:cNvPr id="15378" name="">
            <a:extLst xmlns:a="http://schemas.openxmlformats.org/drawingml/2006/main">
              <a:ext uri="{FF2B5EF4-FFF2-40B4-BE49-F238E27FC236}">
                <a16:creationId xmlns:a16="http://schemas.microsoft.com/office/drawing/2014/main" id="{3AA9D038-FBC6-473D-B577-1A0004BD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862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Raw quote + collection context remain attached.</a:t>
            </a:r>
          </a:p>
        </p:txBody>
      </p:sp>
      <p:sp>
        <p:nvSpPr>
          <p:cNvPr id="15379" name="">
            <a:extLst xmlns:a="http://schemas.openxmlformats.org/drawingml/2006/main">
              <a:ext uri="{FF2B5EF4-FFF2-40B4-BE49-F238E27FC236}">
                <a16:creationId xmlns:a16="http://schemas.microsoft.com/office/drawing/2014/main" id="{EE9AA8B4-AC16-44D3-B303-2D613D42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4817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380" name="">
            <a:extLst xmlns:a="http://schemas.openxmlformats.org/drawingml/2006/main">
              <a:ext uri="{FF2B5EF4-FFF2-40B4-BE49-F238E27FC236}">
                <a16:creationId xmlns:a16="http://schemas.microsoft.com/office/drawing/2014/main" id="{9592CCE0-E482-4ABE-8514-6D51268C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960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Honest failures</a:t>
            </a:r>
          </a:p>
        </p:txBody>
      </p:sp>
      <p:sp>
        <p:nvSpPr>
          <p:cNvPr id="15381" name="">
            <a:extLst xmlns:a="http://schemas.openxmlformats.org/drawingml/2006/main">
              <a:ext uri="{FF2B5EF4-FFF2-40B4-BE49-F238E27FC236}">
                <a16:creationId xmlns:a16="http://schemas.microsoft.com/office/drawing/2014/main" id="{B79D6FAC-F1E3-42BF-95D5-D79ED7C1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Missing sources reduce coverage, never become zero.</a:t>
            </a:r>
          </a:p>
        </p:txBody>
      </p:sp>
      <p:sp>
        <p:nvSpPr>
          <p:cNvPr id="15382" name="">
            <a:extLst xmlns:a="http://schemas.openxmlformats.org/drawingml/2006/main">
              <a:ext uri="{FF2B5EF4-FFF2-40B4-BE49-F238E27FC236}">
                <a16:creationId xmlns:a16="http://schemas.microsoft.com/office/drawing/2014/main" id="{77E7A3FA-54C1-4912-8CCB-B71ECB00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00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383" name="">
            <a:extLst xmlns:a="http://schemas.openxmlformats.org/drawingml/2006/main">
              <a:ext uri="{FF2B5EF4-FFF2-40B4-BE49-F238E27FC236}">
                <a16:creationId xmlns:a16="http://schemas.microsoft.com/office/drawing/2014/main" id="{605CAA37-4497-4037-9D0A-8242B146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720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One stored truth</a:t>
            </a:r>
          </a:p>
        </p:txBody>
      </p:sp>
      <p:sp>
        <p:nvSpPr>
          <p:cNvPr id="15384" name="">
            <a:extLst xmlns:a="http://schemas.openxmlformats.org/drawingml/2006/main">
              <a:ext uri="{FF2B5EF4-FFF2-40B4-BE49-F238E27FC236}">
                <a16:creationId xmlns:a16="http://schemas.microsoft.com/office/drawing/2014/main" id="{5214AA7C-9FC8-4F1B-9AEF-9EA24189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911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Dashboard, API and exports use one result.</a:t>
            </a:r>
          </a:p>
        </p:txBody>
      </p:sp>
    </p:spTree>
    <p:extLst>
      <p:ext uri="{BB962C8B-B14F-4D97-AF65-F5344CB8AC3E}">
        <p14:creationId xmlns:p14="http://schemas.microsoft.com/office/powerpoint/2010/main" val="977602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9D59CD16-E489-477A-A2D6-8068869C3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69262C-1479-413F-9404-E415ABE5EC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0F78B13-7446-4CB4-A0B3-6EB60B6F66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TEAM NAME</a:t>
            </a:r>
            <a:endParaRPr/>
          </a:p>
        </p:txBody>
      </p:sp>
      <p:pic>
        <p:nvPicPr>
          <p:cNvPr id="1747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add21239b4e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6579F57F-F66E-4651-AE55-F7372A7F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19431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F15A29"/>
            </a:solidFill>
          </a:ln>
        </p:spPr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AD6DACC4-986F-4A73-A1AB-B88EBD23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D00DB0E1-8566-4F5A-A2FA-935C8F11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A67AD2CE-20AB-41E7-B08D-B67393DF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167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Approved APIs</a:t>
            </a:r>
          </a:p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Controlled web adapters</a:t>
            </a:r>
          </a:p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Synthetic fixture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25883A5D-B7C0-49F2-B604-A9936208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866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E36430DE-09C4-4337-AB1B-1987F2BE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304925"/>
            <a:ext cx="19431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5593"/>
            </a:solidFill>
          </a:ln>
        </p:spPr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77467FF6-0634-4093-9468-55C9206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4382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6D185FCA-9937-4A39-B46C-7C312379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14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992D14EF-79B3-40E8-B8F3-508D04AA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57400"/>
            <a:ext cx="167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Plan route-window jobs</a:t>
            </a:r>
          </a:p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Preserve raw quotes</a:t>
            </a:r>
          </a:p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Stamp parser + time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72E0339A-65C0-40AB-B1D1-35B01D68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866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B1B41305-BB11-4C07-8F6C-C834183B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04925"/>
            <a:ext cx="19431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8A83"/>
            </a:solidFill>
          </a:ln>
        </p:spPr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4B8E4C8E-9B71-4B3D-BFC8-8404BDE6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382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005FEC52-80C6-4601-9547-5A338F49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14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STANDARDISE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B02A281E-4320-4886-94C9-D2105473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167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Match fare scope</a:t>
            </a:r>
          </a:p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Normalize INR</a:t>
            </a:r>
          </a:p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Validate + deduplicate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9EB88519-3FDB-4C7B-AD08-0B032860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66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00A11E7D-61C4-4438-9472-2E0D5A49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04925"/>
            <a:ext cx="19431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C8B57"/>
            </a:solidFill>
          </a:ln>
        </p:spPr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A73597C3-A22A-4194-97F4-CE3D7BA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382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C8B5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C8B5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350B2D0F-A210-4BD2-9F01-DB3CD8DE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714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87345C9D-510D-4552-8FD7-FB111B97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57400"/>
            <a:ext cx="167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Median each cell</a:t>
            </a:r>
          </a:p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Frozen-base relative</a:t>
            </a:r>
          </a:p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Fixed weights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19E01129-2E9C-434E-BF0F-3E5ED236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66900"/>
            <a:ext cx="23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37BF031A-7135-4C88-92F5-10F3C93A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04925"/>
            <a:ext cx="19431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B5593"/>
            </a:solidFill>
          </a:ln>
        </p:spPr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274062BF-68D9-4C54-AB75-12F1278D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382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71383180-E5F0-498C-9D51-6FBAB617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145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F9E2C2B3-A126-424B-8742-4696DFA4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167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PostgreSQL truth</a:t>
            </a:r>
          </a:p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>
              <a:defRPr sz="863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Dashboard + CSV</a:t>
            </a:r>
          </a:p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BA30902A-2FC2-433F-A6CD-96C20FBE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END-TO-END TRACEABILITY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BA4E566A-8B8B-4675-8A02-EC2E1A8F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05175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AF93C0DE-0BA4-40D2-8E27-6C6CFC74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RAW QUOTE</a:t>
            </a:r>
          </a:p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D60B2A78-1E66-42A5-8B46-2146428A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909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DC355E5E-4231-46CB-8A56-F384C9BD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05175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C5F4ED58-5B81-4ABF-A784-71B3E97A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F4CDD5DE-50D5-42A5-BD2B-76417717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909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36E11FEE-2BA3-44D0-80A2-D737B438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05175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D2E85E51-CE24-4E72-BB98-837FD44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CELL MEDIAN</a:t>
            </a:r>
          </a:p>
        </p:txBody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F0B5361A-26AA-4132-B2FE-F258E771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909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46" name="">
            <a:extLst xmlns:a="http://schemas.openxmlformats.org/drawingml/2006/main">
              <a:ext uri="{FF2B5EF4-FFF2-40B4-BE49-F238E27FC236}">
                <a16:creationId xmlns:a16="http://schemas.microsoft.com/office/drawing/2014/main" id="{231657D4-0150-4CDF-B273-1D28B19E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05175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47" name="">
            <a:extLst xmlns:a="http://schemas.openxmlformats.org/drawingml/2006/main">
              <a:ext uri="{FF2B5EF4-FFF2-40B4-BE49-F238E27FC236}">
                <a16:creationId xmlns:a16="http://schemas.microsoft.com/office/drawing/2014/main" id="{E186D098-5F2D-434D-9380-BBC20620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APIx COMPONENT</a:t>
            </a:r>
          </a:p>
        </p:txBody>
      </p:sp>
      <p:sp>
        <p:nvSpPr>
          <p:cNvPr id="17448" name="">
            <a:extLst xmlns:a="http://schemas.openxmlformats.org/drawingml/2006/main">
              <a:ext uri="{FF2B5EF4-FFF2-40B4-BE49-F238E27FC236}">
                <a16:creationId xmlns:a16="http://schemas.microsoft.com/office/drawing/2014/main" id="{E75E6267-9195-4E27-8AA6-762C1F98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90900"/>
            <a:ext cx="23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449" name="">
            <a:extLst xmlns:a="http://schemas.openxmlformats.org/drawingml/2006/main">
              <a:ext uri="{FF2B5EF4-FFF2-40B4-BE49-F238E27FC236}">
                <a16:creationId xmlns:a16="http://schemas.microsoft.com/office/drawing/2014/main" id="{7DEF3469-B738-488C-A07B-4DB733E2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05175"/>
            <a:ext cx="1943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50" name="">
            <a:extLst xmlns:a="http://schemas.openxmlformats.org/drawingml/2006/main">
              <a:ext uri="{FF2B5EF4-FFF2-40B4-BE49-F238E27FC236}">
                <a16:creationId xmlns:a16="http://schemas.microsoft.com/office/drawing/2014/main" id="{52FB9F1A-167E-4795-8394-5DDE6673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48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PUBLISHED INDEX</a:t>
            </a:r>
          </a:p>
        </p:txBody>
      </p:sp>
      <p:sp>
        <p:nvSpPr>
          <p:cNvPr id="17451" name="">
            <a:extLst xmlns:a="http://schemas.openxmlformats.org/drawingml/2006/main">
              <a:ext uri="{FF2B5EF4-FFF2-40B4-BE49-F238E27FC236}">
                <a16:creationId xmlns:a16="http://schemas.microsoft.com/office/drawing/2014/main" id="{3FED6C54-B73E-458A-9712-9193E8D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52578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solidFill>
              <a:srgbClr val="EAF3F8"/>
            </a:solidFill>
          </a:ln>
        </p:spPr>
      </p:sp>
      <p:sp>
        <p:nvSpPr>
          <p:cNvPr id="17452" name="">
            <a:extLst xmlns:a="http://schemas.openxmlformats.org/drawingml/2006/main">
              <a:ext uri="{FF2B5EF4-FFF2-40B4-BE49-F238E27FC236}">
                <a16:creationId xmlns:a16="http://schemas.microsoft.com/office/drawing/2014/main" id="{B0C9E1E6-3BE2-49A4-9E32-D4733211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576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INDEX METHOD</a:t>
            </a:r>
          </a:p>
        </p:txBody>
      </p:sp>
      <p:sp>
        <p:nvSpPr>
          <p:cNvPr id="17453" name="">
            <a:extLst xmlns:a="http://schemas.openxmlformats.org/drawingml/2006/main">
              <a:ext uri="{FF2B5EF4-FFF2-40B4-BE49-F238E27FC236}">
                <a16:creationId xmlns:a16="http://schemas.microsoft.com/office/drawing/2014/main" id="{F5314C7D-0CFD-47E1-8C91-8522EE3D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Current route-window median</a:t>
            </a:r>
          </a:p>
        </p:txBody>
      </p:sp>
      <p:sp>
        <p:nvSpPr>
          <p:cNvPr id="17454" name="">
            <a:extLst xmlns:a="http://schemas.openxmlformats.org/drawingml/2006/main">
              <a:ext uri="{FF2B5EF4-FFF2-40B4-BE49-F238E27FC236}">
                <a16:creationId xmlns:a16="http://schemas.microsoft.com/office/drawing/2014/main" id="{1D0923E6-B5C3-4503-A379-091672A9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34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5593"/>
            </a:solidFill>
          </a:ln>
        </p:spPr>
      </p:sp>
      <p:sp>
        <p:nvSpPr>
          <p:cNvPr id="17455" name="">
            <a:extLst xmlns:a="http://schemas.openxmlformats.org/drawingml/2006/main">
              <a:ext uri="{FF2B5EF4-FFF2-40B4-BE49-F238E27FC236}">
                <a16:creationId xmlns:a16="http://schemas.microsoft.com/office/drawing/2014/main" id="{FC352F9A-7E26-44DB-870B-EF5053AD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Frozen base median</a:t>
            </a:r>
          </a:p>
        </p:txBody>
      </p:sp>
      <p:sp>
        <p:nvSpPr>
          <p:cNvPr id="17456" name="">
            <a:extLst xmlns:a="http://schemas.openxmlformats.org/drawingml/2006/main">
              <a:ext uri="{FF2B5EF4-FFF2-40B4-BE49-F238E27FC236}">
                <a16:creationId xmlns:a16="http://schemas.microsoft.com/office/drawing/2014/main" id="{D0C32543-E0AC-4FB3-B82E-4B399991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815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× 100</a:t>
            </a:r>
          </a:p>
        </p:txBody>
      </p:sp>
      <p:sp>
        <p:nvSpPr>
          <p:cNvPr id="17457" name="">
            <a:extLst xmlns:a="http://schemas.openxmlformats.org/drawingml/2006/main">
              <a:ext uri="{FF2B5EF4-FFF2-40B4-BE49-F238E27FC236}">
                <a16:creationId xmlns:a16="http://schemas.microsoft.com/office/drawing/2014/main" id="{C43D2A59-B0F5-4645-A316-7BF6B821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48125"/>
            <a:ext cx="54102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15A29"/>
            </a:solidFill>
          </a:ln>
        </p:spPr>
      </p:sp>
      <p:sp>
        <p:nvSpPr>
          <p:cNvPr id="17458" name="">
            <a:extLst xmlns:a="http://schemas.openxmlformats.org/drawingml/2006/main">
              <a:ext uri="{FF2B5EF4-FFF2-40B4-BE49-F238E27FC236}">
                <a16:creationId xmlns:a16="http://schemas.microsoft.com/office/drawing/2014/main" id="{B7571283-D62F-4CB4-945F-7CF3205D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576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HONEST FAILURE PATH</a:t>
            </a:r>
          </a:p>
        </p:txBody>
      </p:sp>
      <p:sp>
        <p:nvSpPr>
          <p:cNvPr id="17459" name="">
            <a:extLst xmlns:a="http://schemas.openxmlformats.org/drawingml/2006/main">
              <a:ext uri="{FF2B5EF4-FFF2-40B4-BE49-F238E27FC236}">
                <a16:creationId xmlns:a16="http://schemas.microsoft.com/office/drawing/2014/main" id="{9D5ABFFB-95ED-4EC9-AA49-1F69B533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291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Blocked source</a:t>
            </a:r>
          </a:p>
        </p:txBody>
      </p:sp>
      <p:sp>
        <p:nvSpPr>
          <p:cNvPr id="17460" name="">
            <a:extLst xmlns:a="http://schemas.openxmlformats.org/drawingml/2006/main">
              <a:ext uri="{FF2B5EF4-FFF2-40B4-BE49-F238E27FC236}">
                <a16:creationId xmlns:a16="http://schemas.microsoft.com/office/drawing/2014/main" id="{B84D7424-D201-4BF5-8E94-21E79314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29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→ job failure + source health</a:t>
            </a:r>
          </a:p>
        </p:txBody>
      </p:sp>
      <p:sp>
        <p:nvSpPr>
          <p:cNvPr id="17461" name="">
            <a:extLst xmlns:a="http://schemas.openxmlformats.org/drawingml/2006/main">
              <a:ext uri="{FF2B5EF4-FFF2-40B4-BE49-F238E27FC236}">
                <a16:creationId xmlns:a16="http://schemas.microsoft.com/office/drawing/2014/main" id="{D8313942-7D1C-4450-B88A-1B96F112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Missing basket cell</a:t>
            </a:r>
          </a:p>
        </p:txBody>
      </p:sp>
      <p:sp>
        <p:nvSpPr>
          <p:cNvPr id="17462" name="">
            <a:extLst xmlns:a="http://schemas.openxmlformats.org/drawingml/2006/main">
              <a:ext uri="{FF2B5EF4-FFF2-40B4-BE49-F238E27FC236}">
                <a16:creationId xmlns:a16="http://schemas.microsoft.com/office/drawing/2014/main" id="{C97F90C9-A0E4-4133-BC74-4BABF3C2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720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→ lower coverage + confidence</a:t>
            </a:r>
          </a:p>
        </p:txBody>
      </p:sp>
      <p:sp>
        <p:nvSpPr>
          <p:cNvPr id="17463" name="">
            <a:extLst xmlns:a="http://schemas.openxmlformats.org/drawingml/2006/main">
              <a:ext uri="{FF2B5EF4-FFF2-40B4-BE49-F238E27FC236}">
                <a16:creationId xmlns:a16="http://schemas.microsoft.com/office/drawing/2014/main" id="{2ABA1F42-50C5-489A-BF23-268890FA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149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B9433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B9433D"/>
                </a:solidFill>
                <a:latin typeface="Arial"/>
                <a:ea typeface="Arial"/>
                <a:cs typeface="Arial"/>
              </a:rPr>
              <a:t>No failure is silently converted into a zero fare.</a:t>
            </a:r>
          </a:p>
        </p:txBody>
      </p:sp>
      <p:sp>
        <p:nvSpPr>
          <p:cNvPr id="17464" name="">
            <a:extLst xmlns:a="http://schemas.openxmlformats.org/drawingml/2006/main">
              <a:ext uri="{FF2B5EF4-FFF2-40B4-BE49-F238E27FC236}">
                <a16:creationId xmlns:a16="http://schemas.microsoft.com/office/drawing/2014/main" id="{243D58A7-64E9-4D92-B47D-D4AFB2B9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674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Python 3.12  •  FastAPI  •  PostgreSQL  •  SQLAlchemy  •  APScheduler  •  React + Vite  •  Docker</a:t>
            </a:r>
          </a:p>
        </p:txBody>
      </p:sp>
    </p:spTree>
    <p:extLst>
      <p:ext uri="{BB962C8B-B14F-4D97-AF65-F5344CB8AC3E}">
        <p14:creationId xmlns:p14="http://schemas.microsoft.com/office/powerpoint/2010/main" val="18132435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1CFDAC58-C394-44CB-97C1-5CE88A6114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8318A7-2DC1-4930-AC59-ADDDC69605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37E1546-9A9A-4735-B198-B6CDDC9E78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TEAM NAME</a:t>
            </a:r>
            <a:endParaRPr/>
          </a:p>
        </p:txBody>
      </p:sp>
      <p:pic>
        <p:nvPicPr>
          <p:cNvPr id="1744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83e75096747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8B5FCF54-1B0B-4010-B785-9D98432F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A646279F-F812-46A1-AA4A-9ECB024F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Working locally today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A94E2780-C89B-4A33-9834-75CD964A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Database, scheduler, collection pipeline, normalization, APIx, provenance, dashboard, exports and automated tests.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CDFD723F-93C8-40A0-A5EC-2E1F2F64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4667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solidFill>
              <a:srgbClr val="EAF3F8"/>
            </a:solidFill>
          </a:ln>
        </p:spPr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23B31D22-9459-43CE-A9C7-CC3DDDD6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DEMO DATA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4D2FAC08-D307-4221-BEA0-189A5B54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Deterministic synthetic fares keep the complete prototype testable without an external service.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F645AF38-9C10-4AD0-96A6-D9C26CF5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466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B95EE32E-6ADD-4C2C-A1B6-B69B7D1A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PRODUCTION GATE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02198B2D-14F1-4723-8851-AACB138B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625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Live airline fares require approved API, GDS, aggregator or written web access.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CF53743A-FA41-43EC-A6D7-E77B4C98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314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ABF58DD5-3CBB-4938-8359-2CDAD8F5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14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DD5BA23D-EE9F-4F64-899F-4CD801B0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14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MITIGATION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81E1E468-0CF7-4B73-8FB9-7D20903D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621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Live fare access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7952E693-862F-45B7-ABE7-5BFE83FE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IndiGo/Air India NDC or approved partner feed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BE17F512-7DC1-4221-A9D4-C36ADDD0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9552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63D0768D-D160-4517-9371-E8B2B3BD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050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9433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9433D"/>
                </a:solidFill>
                <a:latin typeface="Arial"/>
                <a:ea typeface="Arial"/>
                <a:cs typeface="Arial"/>
              </a:rPr>
              <a:t>CAPTCHA and blocking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D21EA4D7-6329-41F2-8B20-D9B1E3BA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0507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Record failure; never bypass or hide it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2C44C8CA-DDFA-4D4D-B308-97EE4D5C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3847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A5E0A2D5-31F5-4DC0-AB46-009F99E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480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Different fare products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8091631A-2CA6-4EA8-A8B9-C0C582B3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480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Validate cabin, currency, stop count and trip type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80C5FECA-D4B7-4C87-A3FB-4B310E71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8142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92E2BF42-A70C-49C9-963E-0232A5E9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909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Sparse data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9393C8C8-A5B3-4088-BD49-59F36C38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9097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Publish coverage and confidence with APIx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5E64C94E-9C9A-4E02-8D6D-255A9458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2437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4DF6962A-F406-42D3-92ED-7BBB957E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339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Larger route basket</a:t>
            </a:r>
          </a:p>
        </p:txBody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634AF30A-90DC-4E00-B106-FA2C4C8E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339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Add workers without changing data contracts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0876306F-E4D0-4A9E-B1D4-75CC4BDB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67325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07F763DF-FF60-4C7F-9B01-D25353E1B9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F017B4C-F5B3-4881-B35A-64D4D7BDB0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A51990A2-0FDF-4ED8-9734-B5EA0427CF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TEAM NAME</a:t>
            </a:r>
            <a:endParaRPr/>
          </a:p>
        </p:txBody>
      </p:sp>
      <p:pic>
        <p:nvPicPr>
          <p:cNvPr id="1744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2c7a21b6845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4E55602D-9007-4D08-8E04-D9D53E7B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A transparent airfare measure for inflation analysis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413E38D1-F7CE-45B9-BC6B-E9BD4BB8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050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253B9482-D846-4C56-A198-870318CA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NSO / MoSPI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22C49193-9335-4230-A021-F126AA90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Higher-frequency airfare evidence for CPI analysis with route and lead-time detail.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ED86B720-7845-415D-8433-D3F382A7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40B777CE-373A-4EB9-A83B-732C1D12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F21CA95F-B2D4-4459-8EE7-1D87B7DB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9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Researchers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AB3838AF-39FC-4C06-BE4F-684999DB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004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Reproducible exports and raw-to-index provenance for independent checks.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7D71B283-CCA6-4CCD-86A9-5C1CD06E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2AB239BD-B33A-476D-8167-41DF28B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71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B18F4526-BF9A-4982-B4DF-FC4752AA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43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Public and media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D07F2BE2-529E-4B0C-B9B9-88B00DF7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338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Clear trends that separate route effects from booking-window effects.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DAF1D2D8-AE1B-4E00-879B-5BC53AC6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23C136D1-9F13-44E7-9276-5615FA7A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04925"/>
            <a:ext cx="3333750" cy="427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solidFill>
              <a:srgbClr val="EAF3F8"/>
            </a:solidFill>
          </a:ln>
        </p:spPr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AE24B0A9-B6A7-470B-8986-E2FC901C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81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MEASURABLE OUTPUTS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25D8C958-7EC0-4D08-9825-20B44324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FA12AD69-24F5-4AB2-8C70-BED7DDB6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955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booking windows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516DF6F3-CFAA-45D3-8C80-2633CFCA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48000"/>
            <a:ext cx="990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195C311A-54E9-4366-A0BA-5C504AD2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099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base index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BB40206B-B0C4-4330-8D3C-FE82B9F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742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B559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559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BA80E782-F565-40D0-BFE0-EAC696DB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243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dashboard views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3B951959-EC45-4DFE-BDCE-0CC54DCF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053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1B7F57AB-B7FF-468F-BADB-2BF9EDA3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14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Scale next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376096F2-EE7D-4706-BBFC-F1956F27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00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DGCA-weighted routes and approved live sources.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521D3C0-E71E-4096-AA79-781C3B0EA6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6B8279-4C87-4DDF-9332-7A163EA6D8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60C5489-0625-4267-AA69-FA514B6689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TEAM NAME</a:t>
            </a:r>
            <a:endParaRPr/>
          </a:p>
        </p:txBody>
      </p:sp>
      <p:pic>
        <p:nvPicPr>
          <p:cNvPr id="1745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4aa90daef40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A0E529EC-A5FD-4B2A-9655-4CF1B0CC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0F483B02-643C-4180-83E5-C981ECD0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430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SIH26056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EE7E6016-C1E8-44E4-A3D1-44DC489A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478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Problem statement and expected solution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0B32A3A2-04BA-41D6-9688-3012B2F5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8A83"/>
                </a:solidFill>
                <a:latin typeface="Arial"/>
                <a:ea typeface="Arial"/>
                <a:cs typeface="Arial"/>
              </a:rPr>
              <a:t>sih.gov.in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3082743B-7B8D-4F60-B58A-F6477727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79CCDD83-2FAF-478B-ADFB-DE7A48F4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BC2D6963-41E4-4C1C-AE39-18CA3EAF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76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MoSPI eSankhyiki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E0BECEB3-3BB1-442F-8D14-36E1D040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813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Official CPI data and API documentation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7445502A-B9FA-4EA3-8B9B-40C6A154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8A83"/>
                </a:solidFill>
                <a:latin typeface="Arial"/>
                <a:ea typeface="Arial"/>
                <a:cs typeface="Arial"/>
              </a:rPr>
              <a:t>esankhyiki.mospi.gov.in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6A65C52E-23C6-4347-8C09-81CC02EF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1DB7F2EC-B595-4C15-AE12-645834BF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9B924220-7CFD-48E7-8424-FA41FC6E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00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DGCA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24750BE9-FB99-4795-97C4-7EBA4C56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Domestic traffic reports for route evidence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40EE8174-0065-474A-9D27-3777FA1E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244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8A83"/>
                </a:solidFill>
                <a:latin typeface="Arial"/>
                <a:ea typeface="Arial"/>
                <a:cs typeface="Arial"/>
              </a:rPr>
              <a:t>dgca.gov.in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3251E236-8070-49DB-B1EB-614A4D51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F7F3E31F-D7CB-4AC9-9AEA-E5CF1CD4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3811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E9E02B2C-9A46-41FE-9610-567986D6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3430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IndiGo NDC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CE829801-6516-4E83-B7FB-6AF24570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478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Official AirShopping developer documentation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B47D4162-EEBE-4B3D-9B39-E3173297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574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8A83"/>
                </a:solidFill>
                <a:latin typeface="Arial"/>
                <a:ea typeface="Arial"/>
                <a:cs typeface="Arial"/>
              </a:rPr>
              <a:t>developer.goindigo.in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D9583003-B817-4ED6-BABC-1D272D1C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098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DAF572C6-BA3E-4894-A0CA-CE1325F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63568384-4F5F-4816-BE7C-DC8BE70D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6765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Air India NDC</a:t>
            </a:r>
          </a:p>
        </p:txBody>
      </p:sp>
      <p:sp>
        <p:nvSpPr>
          <p:cNvPr id="17434" name="">
            <a:extLst xmlns:a="http://schemas.openxmlformats.org/drawingml/2006/main">
              <a:ext uri="{FF2B5EF4-FFF2-40B4-BE49-F238E27FC236}">
                <a16:creationId xmlns:a16="http://schemas.microsoft.com/office/drawing/2014/main" id="{E64DD9FF-2236-4890-B623-7686A8CA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9813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Official direct-connect and partner routes</a:t>
            </a:r>
          </a:p>
        </p:txBody>
      </p:sp>
      <p:sp>
        <p:nvSpPr>
          <p:cNvPr id="17435" name="">
            <a:extLst xmlns:a="http://schemas.openxmlformats.org/drawingml/2006/main">
              <a:ext uri="{FF2B5EF4-FFF2-40B4-BE49-F238E27FC236}">
                <a16:creationId xmlns:a16="http://schemas.microsoft.com/office/drawing/2014/main" id="{40BCD49B-A247-4195-92E1-F0DA58CC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3909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8A83"/>
                </a:solidFill>
                <a:latin typeface="Arial"/>
                <a:ea typeface="Arial"/>
                <a:cs typeface="Arial"/>
              </a:rPr>
              <a:t>ndc.airindia.com</a:t>
            </a:r>
          </a:p>
        </p:txBody>
      </p:sp>
      <p:sp>
        <p:nvSpPr>
          <p:cNvPr id="17436" name="">
            <a:extLst xmlns:a="http://schemas.openxmlformats.org/drawingml/2006/main">
              <a:ext uri="{FF2B5EF4-FFF2-40B4-BE49-F238E27FC236}">
                <a16:creationId xmlns:a16="http://schemas.microsoft.com/office/drawing/2014/main" id="{738CF2F6-0D0E-4692-8022-9E132AC4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433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37" name="">
            <a:extLst xmlns:a="http://schemas.openxmlformats.org/drawingml/2006/main">
              <a:ext uri="{FF2B5EF4-FFF2-40B4-BE49-F238E27FC236}">
                <a16:creationId xmlns:a16="http://schemas.microsoft.com/office/drawing/2014/main" id="{B9516703-5FB0-4710-B543-265C25DB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481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8A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7438" name="">
            <a:extLst xmlns:a="http://schemas.openxmlformats.org/drawingml/2006/main">
              <a:ext uri="{FF2B5EF4-FFF2-40B4-BE49-F238E27FC236}">
                <a16:creationId xmlns:a16="http://schemas.microsoft.com/office/drawing/2014/main" id="{0E42FDF5-C9F0-4A3E-8427-3A9DCF8F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100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Duffel</a:t>
            </a:r>
          </a:p>
        </p:txBody>
      </p:sp>
      <p:sp>
        <p:nvSpPr>
          <p:cNvPr id="17439" name="">
            <a:extLst xmlns:a="http://schemas.openxmlformats.org/drawingml/2006/main">
              <a:ext uri="{FF2B5EF4-FFF2-40B4-BE49-F238E27FC236}">
                <a16:creationId xmlns:a16="http://schemas.microsoft.com/office/drawing/2014/main" id="{05FFBBE4-FAEB-415F-9966-588B0BDE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148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Flights API test-mode limitations</a:t>
            </a:r>
          </a:p>
        </p:txBody>
      </p:sp>
      <p:sp>
        <p:nvSpPr>
          <p:cNvPr id="17440" name="">
            <a:extLst xmlns:a="http://schemas.openxmlformats.org/drawingml/2006/main">
              <a:ext uri="{FF2B5EF4-FFF2-40B4-BE49-F238E27FC236}">
                <a16:creationId xmlns:a16="http://schemas.microsoft.com/office/drawing/2014/main" id="{AAB7625F-3DB1-4E87-94C6-9B4E9EC5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7244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008A8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008A83"/>
                </a:solidFill>
                <a:latin typeface="Arial"/>
                <a:ea typeface="Arial"/>
                <a:cs typeface="Arial"/>
              </a:rPr>
              <a:t>duffel.com/docs</a:t>
            </a:r>
          </a:p>
        </p:txBody>
      </p:sp>
      <p:sp>
        <p:nvSpPr>
          <p:cNvPr id="17441" name="">
            <a:extLst xmlns:a="http://schemas.openxmlformats.org/drawingml/2006/main">
              <a:ext uri="{FF2B5EF4-FFF2-40B4-BE49-F238E27FC236}">
                <a16:creationId xmlns:a16="http://schemas.microsoft.com/office/drawing/2014/main" id="{01FC60C9-F824-4B3C-8C19-7DD6F923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0768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0E8"/>
            </a:solidFill>
          </a:ln>
        </p:spPr>
      </p:sp>
      <p:sp>
        <p:nvSpPr>
          <p:cNvPr id="17442" name="">
            <a:extLst xmlns:a="http://schemas.openxmlformats.org/drawingml/2006/main">
              <a:ext uri="{FF2B5EF4-FFF2-40B4-BE49-F238E27FC236}">
                <a16:creationId xmlns:a16="http://schemas.microsoft.com/office/drawing/2014/main" id="{2ECDE8E8-07F3-4B4B-AD4F-A6149F92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81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5593"/>
            </a:solidFill>
          </a:ln>
        </p:spPr>
      </p:sp>
      <p:sp>
        <p:nvSpPr>
          <p:cNvPr id="17443" name="">
            <a:extLst xmlns:a="http://schemas.openxmlformats.org/drawingml/2006/main">
              <a:ext uri="{FF2B5EF4-FFF2-40B4-BE49-F238E27FC236}">
                <a16:creationId xmlns:a16="http://schemas.microsoft.com/office/drawing/2014/main" id="{9F503D79-3E32-483A-8C28-9AD18628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15A2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15A29"/>
                </a:solidFill>
                <a:latin typeface="Arial"/>
                <a:ea typeface="Arial"/>
                <a:cs typeface="Arial"/>
              </a:rPr>
              <a:t>DEMO PATH</a:t>
            </a:r>
          </a:p>
        </p:txBody>
      </p:sp>
      <p:sp>
        <p:nvSpPr>
          <p:cNvPr id="17444" name="">
            <a:extLst xmlns:a="http://schemas.openxmlformats.org/drawingml/2006/main">
              <a:ext uri="{FF2B5EF4-FFF2-40B4-BE49-F238E27FC236}">
                <a16:creationId xmlns:a16="http://schemas.microsoft.com/office/drawing/2014/main" id="{7BB68800-12BB-4DA7-82FB-BBBD222A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24500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253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52538"/>
                </a:solidFill>
                <a:latin typeface="Arial"/>
                <a:ea typeface="Arial"/>
                <a:cs typeface="Arial"/>
              </a:rPr>
              <a:t>Overview  →  Route Explorer  →  Provenance  →  Operations</a:t>
            </a:r>
          </a:p>
        </p:txBody>
      </p:sp>
      <p:sp>
        <p:nvSpPr>
          <p:cNvPr id="17445" name="">
            <a:extLst xmlns:a="http://schemas.openxmlformats.org/drawingml/2006/main">
              <a:ext uri="{FF2B5EF4-FFF2-40B4-BE49-F238E27FC236}">
                <a16:creationId xmlns:a16="http://schemas.microsoft.com/office/drawing/2014/main" id="{A44C89C3-2F57-48B8-B16C-40666878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29300"/>
            <a:ext cx="733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367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77B"/>
                </a:solidFill>
                <a:latin typeface="Arial"/>
                <a:ea typeface="Arial"/>
                <a:cs typeface="Arial"/>
              </a:rPr>
              <a:t>Show the index, inspect a route, trace one quote, then verify collection health.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2026-09-06T13:51:42.8240000Z</dcterms:created>
  <dcterms:modified xsi:type="dcterms:W3CDTF">2026-09-06T13:51:42.8240000Z</dcterms:modified>
</coreProperties>
</file>